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B3AD5A-8457-4119-A1F7-CD33BD6987C7}" type="doc">
      <dgm:prSet loTypeId="urn:microsoft.com/office/officeart/2005/8/layout/vProcess5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AAFE3FB-CDF2-4816-A2D7-700935460F47}">
      <dgm:prSet/>
      <dgm:spPr/>
      <dgm:t>
        <a:bodyPr/>
        <a:lstStyle/>
        <a:p>
          <a:r>
            <a:rPr lang="en-US" baseline="0"/>
            <a:t>Compares volatility across sectors:</a:t>
          </a:r>
          <a:endParaRPr lang="en-US"/>
        </a:p>
      </dgm:t>
    </dgm:pt>
    <dgm:pt modelId="{D4B82D7C-5852-4A7C-82EB-FF41712FDCB5}" type="parTrans" cxnId="{65A7FF62-974A-47DB-88E9-BAADD5A181AC}">
      <dgm:prSet/>
      <dgm:spPr/>
      <dgm:t>
        <a:bodyPr/>
        <a:lstStyle/>
        <a:p>
          <a:endParaRPr lang="en-US"/>
        </a:p>
      </dgm:t>
    </dgm:pt>
    <dgm:pt modelId="{81FC6CE3-4B35-4E49-8835-23D8DB63D756}" type="sibTrans" cxnId="{65A7FF62-974A-47DB-88E9-BAADD5A181AC}">
      <dgm:prSet/>
      <dgm:spPr/>
      <dgm:t>
        <a:bodyPr/>
        <a:lstStyle/>
        <a:p>
          <a:endParaRPr lang="en-US"/>
        </a:p>
      </dgm:t>
    </dgm:pt>
    <dgm:pt modelId="{0A70B964-8094-433A-B392-9CB1605BDBEA}">
      <dgm:prSet/>
      <dgm:spPr/>
      <dgm:t>
        <a:bodyPr/>
        <a:lstStyle/>
        <a:p>
          <a:r>
            <a:rPr lang="en-US" baseline="0"/>
            <a:t>• IT shows highest volatility (2.34%)</a:t>
          </a:r>
          <a:endParaRPr lang="en-US"/>
        </a:p>
      </dgm:t>
    </dgm:pt>
    <dgm:pt modelId="{D5D5281C-57F3-4F5C-9025-9D613FED9D6A}" type="parTrans" cxnId="{E2651EDC-4B34-4CD4-8467-C9DD503506CE}">
      <dgm:prSet/>
      <dgm:spPr/>
      <dgm:t>
        <a:bodyPr/>
        <a:lstStyle/>
        <a:p>
          <a:endParaRPr lang="en-US"/>
        </a:p>
      </dgm:t>
    </dgm:pt>
    <dgm:pt modelId="{FA700441-77C2-49BB-BB22-453C9ABA541A}" type="sibTrans" cxnId="{E2651EDC-4B34-4CD4-8467-C9DD503506CE}">
      <dgm:prSet/>
      <dgm:spPr/>
      <dgm:t>
        <a:bodyPr/>
        <a:lstStyle/>
        <a:p>
          <a:endParaRPr lang="en-US"/>
        </a:p>
      </dgm:t>
    </dgm:pt>
    <dgm:pt modelId="{0DC16A52-8669-40DB-867C-B415DF46D893}">
      <dgm:prSet/>
      <dgm:spPr/>
      <dgm:t>
        <a:bodyPr/>
        <a:lstStyle/>
        <a:p>
          <a:r>
            <a:rPr lang="en-US" baseline="0"/>
            <a:t>• Financials moderate (1.04%)</a:t>
          </a:r>
          <a:endParaRPr lang="en-US"/>
        </a:p>
      </dgm:t>
    </dgm:pt>
    <dgm:pt modelId="{647E0077-456B-4EA6-9EE0-13E3397886A4}" type="parTrans" cxnId="{968C31CB-35FD-46B3-90F2-51834CAB642B}">
      <dgm:prSet/>
      <dgm:spPr/>
      <dgm:t>
        <a:bodyPr/>
        <a:lstStyle/>
        <a:p>
          <a:endParaRPr lang="en-US"/>
        </a:p>
      </dgm:t>
    </dgm:pt>
    <dgm:pt modelId="{A8AF913B-BAE8-48D7-B65A-EC3C60EC7F3D}" type="sibTrans" cxnId="{968C31CB-35FD-46B3-90F2-51834CAB642B}">
      <dgm:prSet/>
      <dgm:spPr/>
      <dgm:t>
        <a:bodyPr/>
        <a:lstStyle/>
        <a:p>
          <a:endParaRPr lang="en-US"/>
        </a:p>
      </dgm:t>
    </dgm:pt>
    <dgm:pt modelId="{CD4E7790-4506-4DC1-9AC0-F8F40A1A11AD}">
      <dgm:prSet/>
      <dgm:spPr/>
      <dgm:t>
        <a:bodyPr/>
        <a:lstStyle/>
        <a:p>
          <a:r>
            <a:rPr lang="en-US" baseline="0"/>
            <a:t>• Energy and Healthcare around (0.95–1.0%).</a:t>
          </a:r>
          <a:endParaRPr lang="en-US"/>
        </a:p>
      </dgm:t>
    </dgm:pt>
    <dgm:pt modelId="{DDF46F84-EC57-4B91-8CF8-B06911BA0267}" type="parTrans" cxnId="{8D4D76AD-92E0-461D-87C0-494DC5CF0DDE}">
      <dgm:prSet/>
      <dgm:spPr/>
      <dgm:t>
        <a:bodyPr/>
        <a:lstStyle/>
        <a:p>
          <a:endParaRPr lang="en-US"/>
        </a:p>
      </dgm:t>
    </dgm:pt>
    <dgm:pt modelId="{93A756C8-6BD1-4400-A256-86D13E511048}" type="sibTrans" cxnId="{8D4D76AD-92E0-461D-87C0-494DC5CF0DDE}">
      <dgm:prSet/>
      <dgm:spPr/>
      <dgm:t>
        <a:bodyPr/>
        <a:lstStyle/>
        <a:p>
          <a:endParaRPr lang="en-US"/>
        </a:p>
      </dgm:t>
    </dgm:pt>
    <dgm:pt modelId="{EC0C8C0D-7F7F-4168-9D84-C111E39318F4}" type="pres">
      <dgm:prSet presAssocID="{42B3AD5A-8457-4119-A1F7-CD33BD6987C7}" presName="outerComposite" presStyleCnt="0">
        <dgm:presLayoutVars>
          <dgm:chMax val="5"/>
          <dgm:dir/>
          <dgm:resizeHandles val="exact"/>
        </dgm:presLayoutVars>
      </dgm:prSet>
      <dgm:spPr/>
    </dgm:pt>
    <dgm:pt modelId="{9AA1E396-7195-43B9-82FF-A245188445EC}" type="pres">
      <dgm:prSet presAssocID="{42B3AD5A-8457-4119-A1F7-CD33BD6987C7}" presName="dummyMaxCanvas" presStyleCnt="0">
        <dgm:presLayoutVars/>
      </dgm:prSet>
      <dgm:spPr/>
    </dgm:pt>
    <dgm:pt modelId="{CFB47D65-73C4-449B-9245-7E2CEE1C2DA5}" type="pres">
      <dgm:prSet presAssocID="{42B3AD5A-8457-4119-A1F7-CD33BD6987C7}" presName="FourNodes_1" presStyleLbl="node1" presStyleIdx="0" presStyleCnt="4">
        <dgm:presLayoutVars>
          <dgm:bulletEnabled val="1"/>
        </dgm:presLayoutVars>
      </dgm:prSet>
      <dgm:spPr/>
    </dgm:pt>
    <dgm:pt modelId="{28A5BC57-038B-46AE-BB80-A2DCAA1BD158}" type="pres">
      <dgm:prSet presAssocID="{42B3AD5A-8457-4119-A1F7-CD33BD6987C7}" presName="FourNodes_2" presStyleLbl="node1" presStyleIdx="1" presStyleCnt="4">
        <dgm:presLayoutVars>
          <dgm:bulletEnabled val="1"/>
        </dgm:presLayoutVars>
      </dgm:prSet>
      <dgm:spPr/>
    </dgm:pt>
    <dgm:pt modelId="{FAFD6C70-94F7-4442-A14C-6E0DFB1CFACE}" type="pres">
      <dgm:prSet presAssocID="{42B3AD5A-8457-4119-A1F7-CD33BD6987C7}" presName="FourNodes_3" presStyleLbl="node1" presStyleIdx="2" presStyleCnt="4">
        <dgm:presLayoutVars>
          <dgm:bulletEnabled val="1"/>
        </dgm:presLayoutVars>
      </dgm:prSet>
      <dgm:spPr/>
    </dgm:pt>
    <dgm:pt modelId="{B177B8D5-18FC-4994-ADF9-93202D81E83B}" type="pres">
      <dgm:prSet presAssocID="{42B3AD5A-8457-4119-A1F7-CD33BD6987C7}" presName="FourNodes_4" presStyleLbl="node1" presStyleIdx="3" presStyleCnt="4">
        <dgm:presLayoutVars>
          <dgm:bulletEnabled val="1"/>
        </dgm:presLayoutVars>
      </dgm:prSet>
      <dgm:spPr/>
    </dgm:pt>
    <dgm:pt modelId="{EDC45B31-009A-42C9-A055-F61CF78F403E}" type="pres">
      <dgm:prSet presAssocID="{42B3AD5A-8457-4119-A1F7-CD33BD6987C7}" presName="FourConn_1-2" presStyleLbl="fgAccFollowNode1" presStyleIdx="0" presStyleCnt="3">
        <dgm:presLayoutVars>
          <dgm:bulletEnabled val="1"/>
        </dgm:presLayoutVars>
      </dgm:prSet>
      <dgm:spPr/>
    </dgm:pt>
    <dgm:pt modelId="{5EE3AAA9-D94D-435A-A86D-52F68285725D}" type="pres">
      <dgm:prSet presAssocID="{42B3AD5A-8457-4119-A1F7-CD33BD6987C7}" presName="FourConn_2-3" presStyleLbl="fgAccFollowNode1" presStyleIdx="1" presStyleCnt="3">
        <dgm:presLayoutVars>
          <dgm:bulletEnabled val="1"/>
        </dgm:presLayoutVars>
      </dgm:prSet>
      <dgm:spPr/>
    </dgm:pt>
    <dgm:pt modelId="{E2718254-95DB-4FB3-AFEB-60B85DF0D253}" type="pres">
      <dgm:prSet presAssocID="{42B3AD5A-8457-4119-A1F7-CD33BD6987C7}" presName="FourConn_3-4" presStyleLbl="fgAccFollowNode1" presStyleIdx="2" presStyleCnt="3">
        <dgm:presLayoutVars>
          <dgm:bulletEnabled val="1"/>
        </dgm:presLayoutVars>
      </dgm:prSet>
      <dgm:spPr/>
    </dgm:pt>
    <dgm:pt modelId="{C8B5708F-F9FF-48ED-AA0C-CDA399BC466A}" type="pres">
      <dgm:prSet presAssocID="{42B3AD5A-8457-4119-A1F7-CD33BD6987C7}" presName="FourNodes_1_text" presStyleLbl="node1" presStyleIdx="3" presStyleCnt="4">
        <dgm:presLayoutVars>
          <dgm:bulletEnabled val="1"/>
        </dgm:presLayoutVars>
      </dgm:prSet>
      <dgm:spPr/>
    </dgm:pt>
    <dgm:pt modelId="{6E64EE49-693A-4A46-8C30-E63541DDDC9C}" type="pres">
      <dgm:prSet presAssocID="{42B3AD5A-8457-4119-A1F7-CD33BD6987C7}" presName="FourNodes_2_text" presStyleLbl="node1" presStyleIdx="3" presStyleCnt="4">
        <dgm:presLayoutVars>
          <dgm:bulletEnabled val="1"/>
        </dgm:presLayoutVars>
      </dgm:prSet>
      <dgm:spPr/>
    </dgm:pt>
    <dgm:pt modelId="{F1049F27-E46C-4793-8136-E3F07FBE7B1C}" type="pres">
      <dgm:prSet presAssocID="{42B3AD5A-8457-4119-A1F7-CD33BD6987C7}" presName="FourNodes_3_text" presStyleLbl="node1" presStyleIdx="3" presStyleCnt="4">
        <dgm:presLayoutVars>
          <dgm:bulletEnabled val="1"/>
        </dgm:presLayoutVars>
      </dgm:prSet>
      <dgm:spPr/>
    </dgm:pt>
    <dgm:pt modelId="{44C85C70-9CBB-41E8-A03A-27D0279BB606}" type="pres">
      <dgm:prSet presAssocID="{42B3AD5A-8457-4119-A1F7-CD33BD6987C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604B505-60BC-4629-81A1-4D2C1F8E11E3}" type="presOf" srcId="{4AAFE3FB-CDF2-4816-A2D7-700935460F47}" destId="{CFB47D65-73C4-449B-9245-7E2CEE1C2DA5}" srcOrd="0" destOrd="0" presId="urn:microsoft.com/office/officeart/2005/8/layout/vProcess5"/>
    <dgm:cxn modelId="{BBE06208-DA56-4A6D-BEB3-4959F2828498}" type="presOf" srcId="{FA700441-77C2-49BB-BB22-453C9ABA541A}" destId="{5EE3AAA9-D94D-435A-A86D-52F68285725D}" srcOrd="0" destOrd="0" presId="urn:microsoft.com/office/officeart/2005/8/layout/vProcess5"/>
    <dgm:cxn modelId="{2425C714-57F4-4F59-A638-A337FA4A6673}" type="presOf" srcId="{42B3AD5A-8457-4119-A1F7-CD33BD6987C7}" destId="{EC0C8C0D-7F7F-4168-9D84-C111E39318F4}" srcOrd="0" destOrd="0" presId="urn:microsoft.com/office/officeart/2005/8/layout/vProcess5"/>
    <dgm:cxn modelId="{630C2621-3ADC-4F8F-9C4D-09AE0CAAC873}" type="presOf" srcId="{A8AF913B-BAE8-48D7-B65A-EC3C60EC7F3D}" destId="{E2718254-95DB-4FB3-AFEB-60B85DF0D253}" srcOrd="0" destOrd="0" presId="urn:microsoft.com/office/officeart/2005/8/layout/vProcess5"/>
    <dgm:cxn modelId="{65A7FF62-974A-47DB-88E9-BAADD5A181AC}" srcId="{42B3AD5A-8457-4119-A1F7-CD33BD6987C7}" destId="{4AAFE3FB-CDF2-4816-A2D7-700935460F47}" srcOrd="0" destOrd="0" parTransId="{D4B82D7C-5852-4A7C-82EB-FF41712FDCB5}" sibTransId="{81FC6CE3-4B35-4E49-8835-23D8DB63D756}"/>
    <dgm:cxn modelId="{E2168468-AF2A-425D-AB22-F6CAF603ACEB}" type="presOf" srcId="{0A70B964-8094-433A-B392-9CB1605BDBEA}" destId="{6E64EE49-693A-4A46-8C30-E63541DDDC9C}" srcOrd="1" destOrd="0" presId="urn:microsoft.com/office/officeart/2005/8/layout/vProcess5"/>
    <dgm:cxn modelId="{50CDC948-AB63-4EE9-9D5F-DB5D99F4276C}" type="presOf" srcId="{CD4E7790-4506-4DC1-9AC0-F8F40A1A11AD}" destId="{B177B8D5-18FC-4994-ADF9-93202D81E83B}" srcOrd="0" destOrd="0" presId="urn:microsoft.com/office/officeart/2005/8/layout/vProcess5"/>
    <dgm:cxn modelId="{B7354749-13DF-43C7-8DF2-6F1E1CE5D277}" type="presOf" srcId="{0A70B964-8094-433A-B392-9CB1605BDBEA}" destId="{28A5BC57-038B-46AE-BB80-A2DCAA1BD158}" srcOrd="0" destOrd="0" presId="urn:microsoft.com/office/officeart/2005/8/layout/vProcess5"/>
    <dgm:cxn modelId="{0001CD69-73B5-49E3-939D-FF0E01E55E4D}" type="presOf" srcId="{4AAFE3FB-CDF2-4816-A2D7-700935460F47}" destId="{C8B5708F-F9FF-48ED-AA0C-CDA399BC466A}" srcOrd="1" destOrd="0" presId="urn:microsoft.com/office/officeart/2005/8/layout/vProcess5"/>
    <dgm:cxn modelId="{5D8CD99C-1A7D-4AFA-AB7A-A2CE91FCE0B2}" type="presOf" srcId="{0DC16A52-8669-40DB-867C-B415DF46D893}" destId="{FAFD6C70-94F7-4442-A14C-6E0DFB1CFACE}" srcOrd="0" destOrd="0" presId="urn:microsoft.com/office/officeart/2005/8/layout/vProcess5"/>
    <dgm:cxn modelId="{8D4D76AD-92E0-461D-87C0-494DC5CF0DDE}" srcId="{42B3AD5A-8457-4119-A1F7-CD33BD6987C7}" destId="{CD4E7790-4506-4DC1-9AC0-F8F40A1A11AD}" srcOrd="3" destOrd="0" parTransId="{DDF46F84-EC57-4B91-8CF8-B06911BA0267}" sibTransId="{93A756C8-6BD1-4400-A256-86D13E511048}"/>
    <dgm:cxn modelId="{2C7EB0AF-D248-4D98-964A-24A2046A75E8}" type="presOf" srcId="{0DC16A52-8669-40DB-867C-B415DF46D893}" destId="{F1049F27-E46C-4793-8136-E3F07FBE7B1C}" srcOrd="1" destOrd="0" presId="urn:microsoft.com/office/officeart/2005/8/layout/vProcess5"/>
    <dgm:cxn modelId="{E1622CBE-56B3-42A8-9628-2284D4F10C60}" type="presOf" srcId="{81FC6CE3-4B35-4E49-8835-23D8DB63D756}" destId="{EDC45B31-009A-42C9-A055-F61CF78F403E}" srcOrd="0" destOrd="0" presId="urn:microsoft.com/office/officeart/2005/8/layout/vProcess5"/>
    <dgm:cxn modelId="{968C31CB-35FD-46B3-90F2-51834CAB642B}" srcId="{42B3AD5A-8457-4119-A1F7-CD33BD6987C7}" destId="{0DC16A52-8669-40DB-867C-B415DF46D893}" srcOrd="2" destOrd="0" parTransId="{647E0077-456B-4EA6-9EE0-13E3397886A4}" sibTransId="{A8AF913B-BAE8-48D7-B65A-EC3C60EC7F3D}"/>
    <dgm:cxn modelId="{E2651EDC-4B34-4CD4-8467-C9DD503506CE}" srcId="{42B3AD5A-8457-4119-A1F7-CD33BD6987C7}" destId="{0A70B964-8094-433A-B392-9CB1605BDBEA}" srcOrd="1" destOrd="0" parTransId="{D5D5281C-57F3-4F5C-9025-9D613FED9D6A}" sibTransId="{FA700441-77C2-49BB-BB22-453C9ABA541A}"/>
    <dgm:cxn modelId="{7B76ABE8-6218-4F8A-A471-F24984CF0A48}" type="presOf" srcId="{CD4E7790-4506-4DC1-9AC0-F8F40A1A11AD}" destId="{44C85C70-9CBB-41E8-A03A-27D0279BB606}" srcOrd="1" destOrd="0" presId="urn:microsoft.com/office/officeart/2005/8/layout/vProcess5"/>
    <dgm:cxn modelId="{D6D8853D-5396-4722-BD6B-3920DE8E5B15}" type="presParOf" srcId="{EC0C8C0D-7F7F-4168-9D84-C111E39318F4}" destId="{9AA1E396-7195-43B9-82FF-A245188445EC}" srcOrd="0" destOrd="0" presId="urn:microsoft.com/office/officeart/2005/8/layout/vProcess5"/>
    <dgm:cxn modelId="{EB4AF976-C95A-44F3-BAAC-A6616B6CBF08}" type="presParOf" srcId="{EC0C8C0D-7F7F-4168-9D84-C111E39318F4}" destId="{CFB47D65-73C4-449B-9245-7E2CEE1C2DA5}" srcOrd="1" destOrd="0" presId="urn:microsoft.com/office/officeart/2005/8/layout/vProcess5"/>
    <dgm:cxn modelId="{A83469D0-DCE8-4FBA-949A-2DB6CDF072C6}" type="presParOf" srcId="{EC0C8C0D-7F7F-4168-9D84-C111E39318F4}" destId="{28A5BC57-038B-46AE-BB80-A2DCAA1BD158}" srcOrd="2" destOrd="0" presId="urn:microsoft.com/office/officeart/2005/8/layout/vProcess5"/>
    <dgm:cxn modelId="{855C6D84-C4F9-44E1-94C8-FA7A359C6F93}" type="presParOf" srcId="{EC0C8C0D-7F7F-4168-9D84-C111E39318F4}" destId="{FAFD6C70-94F7-4442-A14C-6E0DFB1CFACE}" srcOrd="3" destOrd="0" presId="urn:microsoft.com/office/officeart/2005/8/layout/vProcess5"/>
    <dgm:cxn modelId="{36292F1F-314E-4D70-AD6D-32D8D6B31AE0}" type="presParOf" srcId="{EC0C8C0D-7F7F-4168-9D84-C111E39318F4}" destId="{B177B8D5-18FC-4994-ADF9-93202D81E83B}" srcOrd="4" destOrd="0" presId="urn:microsoft.com/office/officeart/2005/8/layout/vProcess5"/>
    <dgm:cxn modelId="{5D9C079F-BEA6-450B-9871-D94F866D6CAA}" type="presParOf" srcId="{EC0C8C0D-7F7F-4168-9D84-C111E39318F4}" destId="{EDC45B31-009A-42C9-A055-F61CF78F403E}" srcOrd="5" destOrd="0" presId="urn:microsoft.com/office/officeart/2005/8/layout/vProcess5"/>
    <dgm:cxn modelId="{57BDA26E-733D-410B-B021-0EFE95AB3B1E}" type="presParOf" srcId="{EC0C8C0D-7F7F-4168-9D84-C111E39318F4}" destId="{5EE3AAA9-D94D-435A-A86D-52F68285725D}" srcOrd="6" destOrd="0" presId="urn:microsoft.com/office/officeart/2005/8/layout/vProcess5"/>
    <dgm:cxn modelId="{B589D310-3704-4621-AEF0-E0820A321DED}" type="presParOf" srcId="{EC0C8C0D-7F7F-4168-9D84-C111E39318F4}" destId="{E2718254-95DB-4FB3-AFEB-60B85DF0D253}" srcOrd="7" destOrd="0" presId="urn:microsoft.com/office/officeart/2005/8/layout/vProcess5"/>
    <dgm:cxn modelId="{97C1E4D3-5919-41C6-ADD2-8EA873B80E56}" type="presParOf" srcId="{EC0C8C0D-7F7F-4168-9D84-C111E39318F4}" destId="{C8B5708F-F9FF-48ED-AA0C-CDA399BC466A}" srcOrd="8" destOrd="0" presId="urn:microsoft.com/office/officeart/2005/8/layout/vProcess5"/>
    <dgm:cxn modelId="{EB3AFDCB-4531-4B6D-824F-C1E18D9C9106}" type="presParOf" srcId="{EC0C8C0D-7F7F-4168-9D84-C111E39318F4}" destId="{6E64EE49-693A-4A46-8C30-E63541DDDC9C}" srcOrd="9" destOrd="0" presId="urn:microsoft.com/office/officeart/2005/8/layout/vProcess5"/>
    <dgm:cxn modelId="{DE325F66-DE82-44CA-9457-0A0196042F8C}" type="presParOf" srcId="{EC0C8C0D-7F7F-4168-9D84-C111E39318F4}" destId="{F1049F27-E46C-4793-8136-E3F07FBE7B1C}" srcOrd="10" destOrd="0" presId="urn:microsoft.com/office/officeart/2005/8/layout/vProcess5"/>
    <dgm:cxn modelId="{38635683-A43C-45A2-ABA2-175229A5425E}" type="presParOf" srcId="{EC0C8C0D-7F7F-4168-9D84-C111E39318F4}" destId="{44C85C70-9CBB-41E8-A03A-27D0279BB606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836299-C460-4858-935A-08ECA4A62DE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479CE3-A8C8-45FB-A760-84EBFD15A2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Tracks monthly returns for each company.</a:t>
          </a:r>
          <a:endParaRPr lang="en-US"/>
        </a:p>
      </dgm:t>
    </dgm:pt>
    <dgm:pt modelId="{49F879DA-84FD-4DF1-A889-7B263E6112A2}" type="parTrans" cxnId="{6AD20670-E887-43E4-BA7E-D98E7CFA13E7}">
      <dgm:prSet/>
      <dgm:spPr/>
      <dgm:t>
        <a:bodyPr/>
        <a:lstStyle/>
        <a:p>
          <a:endParaRPr lang="en-US"/>
        </a:p>
      </dgm:t>
    </dgm:pt>
    <dgm:pt modelId="{2C4C4DE0-3B3D-491A-BB1B-02ADD8021CC7}" type="sibTrans" cxnId="{6AD20670-E887-43E4-BA7E-D98E7CFA13E7}">
      <dgm:prSet/>
      <dgm:spPr/>
      <dgm:t>
        <a:bodyPr/>
        <a:lstStyle/>
        <a:p>
          <a:endParaRPr lang="en-US"/>
        </a:p>
      </dgm:t>
    </dgm:pt>
    <dgm:pt modelId="{8599C07F-97CB-43ED-954F-123D7FB2E3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Pfizer and TCS show strong gains in March–April, while Apple, Infosys, and Microsoft decline by June.</a:t>
          </a:r>
          <a:endParaRPr lang="en-US"/>
        </a:p>
      </dgm:t>
    </dgm:pt>
    <dgm:pt modelId="{168A5F25-D20B-4CB0-8A7A-38FBCE6A1F65}" type="parTrans" cxnId="{4F0E4463-0742-4FB2-BD5A-04AE6CACFD59}">
      <dgm:prSet/>
      <dgm:spPr/>
      <dgm:t>
        <a:bodyPr/>
        <a:lstStyle/>
        <a:p>
          <a:endParaRPr lang="en-US"/>
        </a:p>
      </dgm:t>
    </dgm:pt>
    <dgm:pt modelId="{F5DABECD-8EA4-4D27-A814-77B80659F1EE}" type="sibTrans" cxnId="{4F0E4463-0742-4FB2-BD5A-04AE6CACFD59}">
      <dgm:prSet/>
      <dgm:spPr/>
      <dgm:t>
        <a:bodyPr/>
        <a:lstStyle/>
        <a:p>
          <a:endParaRPr lang="en-US"/>
        </a:p>
      </dgm:t>
    </dgm:pt>
    <dgm:pt modelId="{0414C25D-9287-4D2F-94A4-27BEC4A11D3C}" type="pres">
      <dgm:prSet presAssocID="{81836299-C460-4858-935A-08ECA4A62DE2}" presName="root" presStyleCnt="0">
        <dgm:presLayoutVars>
          <dgm:dir/>
          <dgm:resizeHandles val="exact"/>
        </dgm:presLayoutVars>
      </dgm:prSet>
      <dgm:spPr/>
    </dgm:pt>
    <dgm:pt modelId="{368D7465-7CA9-4368-85A8-BF79003309DE}" type="pres">
      <dgm:prSet presAssocID="{AF479CE3-A8C8-45FB-A760-84EBFD15A2EB}" presName="compNode" presStyleCnt="0"/>
      <dgm:spPr/>
    </dgm:pt>
    <dgm:pt modelId="{47B4D42F-8C2B-4F9D-8916-4C8F6B915A17}" type="pres">
      <dgm:prSet presAssocID="{AF479CE3-A8C8-45FB-A760-84EBFD15A2EB}" presName="bgRect" presStyleLbl="bgShp" presStyleIdx="0" presStyleCnt="2"/>
      <dgm:spPr/>
    </dgm:pt>
    <dgm:pt modelId="{A4CD162C-B9BA-4AE9-9196-6031D8F4CC5F}" type="pres">
      <dgm:prSet presAssocID="{AF479CE3-A8C8-45FB-A760-84EBFD15A2E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ement truck"/>
        </a:ext>
      </dgm:extLst>
    </dgm:pt>
    <dgm:pt modelId="{FC4F9D82-4931-4620-A468-7BDE1A13CE3F}" type="pres">
      <dgm:prSet presAssocID="{AF479CE3-A8C8-45FB-A760-84EBFD15A2EB}" presName="spaceRect" presStyleCnt="0"/>
      <dgm:spPr/>
    </dgm:pt>
    <dgm:pt modelId="{158B798F-F7CB-4B81-AE00-3BBB08DA4102}" type="pres">
      <dgm:prSet presAssocID="{AF479CE3-A8C8-45FB-A760-84EBFD15A2EB}" presName="parTx" presStyleLbl="revTx" presStyleIdx="0" presStyleCnt="2">
        <dgm:presLayoutVars>
          <dgm:chMax val="0"/>
          <dgm:chPref val="0"/>
        </dgm:presLayoutVars>
      </dgm:prSet>
      <dgm:spPr/>
    </dgm:pt>
    <dgm:pt modelId="{7EAD78C3-9D42-40CA-8042-63CF229C9775}" type="pres">
      <dgm:prSet presAssocID="{2C4C4DE0-3B3D-491A-BB1B-02ADD8021CC7}" presName="sibTrans" presStyleCnt="0"/>
      <dgm:spPr/>
    </dgm:pt>
    <dgm:pt modelId="{33DB07BA-BE46-4CAE-878C-D8E25F82051C}" type="pres">
      <dgm:prSet presAssocID="{8599C07F-97CB-43ED-954F-123D7FB2E350}" presName="compNode" presStyleCnt="0"/>
      <dgm:spPr/>
    </dgm:pt>
    <dgm:pt modelId="{45B330C1-BACF-41D8-9007-F4E9EAAADAC7}" type="pres">
      <dgm:prSet presAssocID="{8599C07F-97CB-43ED-954F-123D7FB2E350}" presName="bgRect" presStyleLbl="bgShp" presStyleIdx="1" presStyleCnt="2"/>
      <dgm:spPr/>
    </dgm:pt>
    <dgm:pt modelId="{488F188C-39E8-4E87-87EA-11CF646EF2F1}" type="pres">
      <dgm:prSet presAssocID="{8599C07F-97CB-43ED-954F-123D7FB2E35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pple"/>
        </a:ext>
      </dgm:extLst>
    </dgm:pt>
    <dgm:pt modelId="{12BCA1D1-F96A-4D39-9221-A143C5B76D79}" type="pres">
      <dgm:prSet presAssocID="{8599C07F-97CB-43ED-954F-123D7FB2E350}" presName="spaceRect" presStyleCnt="0"/>
      <dgm:spPr/>
    </dgm:pt>
    <dgm:pt modelId="{111DA19D-F82F-4201-9FDC-AFEC4423FD54}" type="pres">
      <dgm:prSet presAssocID="{8599C07F-97CB-43ED-954F-123D7FB2E35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F0E4463-0742-4FB2-BD5A-04AE6CACFD59}" srcId="{81836299-C460-4858-935A-08ECA4A62DE2}" destId="{8599C07F-97CB-43ED-954F-123D7FB2E350}" srcOrd="1" destOrd="0" parTransId="{168A5F25-D20B-4CB0-8A7A-38FBCE6A1F65}" sibTransId="{F5DABECD-8EA4-4D27-A814-77B80659F1EE}"/>
    <dgm:cxn modelId="{F01B606B-2FD5-44E4-A852-C4F60E0414F2}" type="presOf" srcId="{AF479CE3-A8C8-45FB-A760-84EBFD15A2EB}" destId="{158B798F-F7CB-4B81-AE00-3BBB08DA4102}" srcOrd="0" destOrd="0" presId="urn:microsoft.com/office/officeart/2018/2/layout/IconVerticalSolidList"/>
    <dgm:cxn modelId="{6AD20670-E887-43E4-BA7E-D98E7CFA13E7}" srcId="{81836299-C460-4858-935A-08ECA4A62DE2}" destId="{AF479CE3-A8C8-45FB-A760-84EBFD15A2EB}" srcOrd="0" destOrd="0" parTransId="{49F879DA-84FD-4DF1-A889-7B263E6112A2}" sibTransId="{2C4C4DE0-3B3D-491A-BB1B-02ADD8021CC7}"/>
    <dgm:cxn modelId="{DE8C849E-86E2-4F12-9AC8-F885599BA9D8}" type="presOf" srcId="{8599C07F-97CB-43ED-954F-123D7FB2E350}" destId="{111DA19D-F82F-4201-9FDC-AFEC4423FD54}" srcOrd="0" destOrd="0" presId="urn:microsoft.com/office/officeart/2018/2/layout/IconVerticalSolidList"/>
    <dgm:cxn modelId="{EF8A07C8-936D-44C8-BFC5-DD9F2D5AAC46}" type="presOf" srcId="{81836299-C460-4858-935A-08ECA4A62DE2}" destId="{0414C25D-9287-4D2F-94A4-27BEC4A11D3C}" srcOrd="0" destOrd="0" presId="urn:microsoft.com/office/officeart/2018/2/layout/IconVerticalSolidList"/>
    <dgm:cxn modelId="{B2BBFE0B-5FCD-4557-8717-C5A456BF44F7}" type="presParOf" srcId="{0414C25D-9287-4D2F-94A4-27BEC4A11D3C}" destId="{368D7465-7CA9-4368-85A8-BF79003309DE}" srcOrd="0" destOrd="0" presId="urn:microsoft.com/office/officeart/2018/2/layout/IconVerticalSolidList"/>
    <dgm:cxn modelId="{A74A941F-2037-4187-82E1-589B4E57D7C7}" type="presParOf" srcId="{368D7465-7CA9-4368-85A8-BF79003309DE}" destId="{47B4D42F-8C2B-4F9D-8916-4C8F6B915A17}" srcOrd="0" destOrd="0" presId="urn:microsoft.com/office/officeart/2018/2/layout/IconVerticalSolidList"/>
    <dgm:cxn modelId="{BCB31814-C57C-4298-932F-269FE67D89C3}" type="presParOf" srcId="{368D7465-7CA9-4368-85A8-BF79003309DE}" destId="{A4CD162C-B9BA-4AE9-9196-6031D8F4CC5F}" srcOrd="1" destOrd="0" presId="urn:microsoft.com/office/officeart/2018/2/layout/IconVerticalSolidList"/>
    <dgm:cxn modelId="{B34AC0A5-B216-4268-94D8-3EBDB4C79BFD}" type="presParOf" srcId="{368D7465-7CA9-4368-85A8-BF79003309DE}" destId="{FC4F9D82-4931-4620-A468-7BDE1A13CE3F}" srcOrd="2" destOrd="0" presId="urn:microsoft.com/office/officeart/2018/2/layout/IconVerticalSolidList"/>
    <dgm:cxn modelId="{036FE93E-2EBD-421A-88C4-2CCBCDE089FA}" type="presParOf" srcId="{368D7465-7CA9-4368-85A8-BF79003309DE}" destId="{158B798F-F7CB-4B81-AE00-3BBB08DA4102}" srcOrd="3" destOrd="0" presId="urn:microsoft.com/office/officeart/2018/2/layout/IconVerticalSolidList"/>
    <dgm:cxn modelId="{2DD705AA-8CBF-4B3C-8EFC-D9F115512FE5}" type="presParOf" srcId="{0414C25D-9287-4D2F-94A4-27BEC4A11D3C}" destId="{7EAD78C3-9D42-40CA-8042-63CF229C9775}" srcOrd="1" destOrd="0" presId="urn:microsoft.com/office/officeart/2018/2/layout/IconVerticalSolidList"/>
    <dgm:cxn modelId="{6C83AF6F-7D88-4BC5-96CB-8E9F396ED3DC}" type="presParOf" srcId="{0414C25D-9287-4D2F-94A4-27BEC4A11D3C}" destId="{33DB07BA-BE46-4CAE-878C-D8E25F82051C}" srcOrd="2" destOrd="0" presId="urn:microsoft.com/office/officeart/2018/2/layout/IconVerticalSolidList"/>
    <dgm:cxn modelId="{9F6F08FF-76F1-42EB-B652-973B481F2C29}" type="presParOf" srcId="{33DB07BA-BE46-4CAE-878C-D8E25F82051C}" destId="{45B330C1-BACF-41D8-9007-F4E9EAAADAC7}" srcOrd="0" destOrd="0" presId="urn:microsoft.com/office/officeart/2018/2/layout/IconVerticalSolidList"/>
    <dgm:cxn modelId="{CDE33055-A3EE-45E2-BF8C-F3D60283303D}" type="presParOf" srcId="{33DB07BA-BE46-4CAE-878C-D8E25F82051C}" destId="{488F188C-39E8-4E87-87EA-11CF646EF2F1}" srcOrd="1" destOrd="0" presId="urn:microsoft.com/office/officeart/2018/2/layout/IconVerticalSolidList"/>
    <dgm:cxn modelId="{E5AC454A-0637-4EF1-B285-8FE83661D9FC}" type="presParOf" srcId="{33DB07BA-BE46-4CAE-878C-D8E25F82051C}" destId="{12BCA1D1-F96A-4D39-9221-A143C5B76D79}" srcOrd="2" destOrd="0" presId="urn:microsoft.com/office/officeart/2018/2/layout/IconVerticalSolidList"/>
    <dgm:cxn modelId="{F7D35BFA-1EE5-4DB2-A1A9-156236A3CE83}" type="presParOf" srcId="{33DB07BA-BE46-4CAE-878C-D8E25F82051C}" destId="{111DA19D-F82F-4201-9FDC-AFEC4423FD5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54F8A70-4F32-403D-8EE1-0A447753132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5CA950A-8E18-4CC3-9437-A3A95BBEB152}">
      <dgm:prSet/>
      <dgm:spPr/>
      <dgm:t>
        <a:bodyPr/>
        <a:lstStyle/>
        <a:p>
          <a:r>
            <a:rPr lang="en-US" baseline="0"/>
            <a:t>• IT and Financials dominate market capitalization.</a:t>
          </a:r>
          <a:endParaRPr lang="en-US"/>
        </a:p>
      </dgm:t>
    </dgm:pt>
    <dgm:pt modelId="{ABD75134-B9E5-4113-937C-9FE80C01A79B}" type="parTrans" cxnId="{9F54571A-893E-4429-9AC6-EB973FE90A2A}">
      <dgm:prSet/>
      <dgm:spPr/>
      <dgm:t>
        <a:bodyPr/>
        <a:lstStyle/>
        <a:p>
          <a:endParaRPr lang="en-US"/>
        </a:p>
      </dgm:t>
    </dgm:pt>
    <dgm:pt modelId="{C78AD175-F700-473C-8497-DEE31C6A93C6}" type="sibTrans" cxnId="{9F54571A-893E-4429-9AC6-EB973FE90A2A}">
      <dgm:prSet/>
      <dgm:spPr/>
      <dgm:t>
        <a:bodyPr/>
        <a:lstStyle/>
        <a:p>
          <a:endParaRPr lang="en-US"/>
        </a:p>
      </dgm:t>
    </dgm:pt>
    <dgm:pt modelId="{E73AF0F9-4A5A-4D62-87CA-C6DC927101AF}">
      <dgm:prSet/>
      <dgm:spPr/>
      <dgm:t>
        <a:bodyPr/>
        <a:lstStyle/>
        <a:p>
          <a:r>
            <a:rPr lang="en-US" baseline="0"/>
            <a:t>• March–April show strong performance, June shows decline.</a:t>
          </a:r>
          <a:endParaRPr lang="en-US"/>
        </a:p>
      </dgm:t>
    </dgm:pt>
    <dgm:pt modelId="{B7C99CCC-0965-40D0-B4DA-868FA3B2F9DB}" type="parTrans" cxnId="{A3476FE0-DE09-401D-8B53-3DC82795D8B5}">
      <dgm:prSet/>
      <dgm:spPr/>
      <dgm:t>
        <a:bodyPr/>
        <a:lstStyle/>
        <a:p>
          <a:endParaRPr lang="en-US"/>
        </a:p>
      </dgm:t>
    </dgm:pt>
    <dgm:pt modelId="{FA777F1D-BF29-4B8F-826B-C09D6E9C3761}" type="sibTrans" cxnId="{A3476FE0-DE09-401D-8B53-3DC82795D8B5}">
      <dgm:prSet/>
      <dgm:spPr/>
      <dgm:t>
        <a:bodyPr/>
        <a:lstStyle/>
        <a:p>
          <a:endParaRPr lang="en-US"/>
        </a:p>
      </dgm:t>
    </dgm:pt>
    <dgm:pt modelId="{59F657DF-E654-4B13-ACCA-803BA38CFE65}">
      <dgm:prSet/>
      <dgm:spPr/>
      <dgm:t>
        <a:bodyPr/>
        <a:lstStyle/>
        <a:p>
          <a:r>
            <a:rPr lang="en-US" baseline="0"/>
            <a:t>• Dividend income remains high despite overall loss.</a:t>
          </a:r>
          <a:endParaRPr lang="en-US"/>
        </a:p>
      </dgm:t>
    </dgm:pt>
    <dgm:pt modelId="{F2DD6298-7C46-4D56-B5A3-1BF62A1655AF}" type="parTrans" cxnId="{B1EDC5D9-370C-4811-B97E-51593DF60DA7}">
      <dgm:prSet/>
      <dgm:spPr/>
      <dgm:t>
        <a:bodyPr/>
        <a:lstStyle/>
        <a:p>
          <a:endParaRPr lang="en-US"/>
        </a:p>
      </dgm:t>
    </dgm:pt>
    <dgm:pt modelId="{D2E1F310-7A6A-49D8-9EB7-C03B788D313E}" type="sibTrans" cxnId="{B1EDC5D9-370C-4811-B97E-51593DF60DA7}">
      <dgm:prSet/>
      <dgm:spPr/>
      <dgm:t>
        <a:bodyPr/>
        <a:lstStyle/>
        <a:p>
          <a:endParaRPr lang="en-US"/>
        </a:p>
      </dgm:t>
    </dgm:pt>
    <dgm:pt modelId="{53117D29-2FB6-4CED-9DC8-77F7B2B2A4C4}">
      <dgm:prSet/>
      <dgm:spPr/>
      <dgm:t>
        <a:bodyPr/>
        <a:lstStyle/>
        <a:p>
          <a:r>
            <a:rPr lang="en-US" baseline="0"/>
            <a:t>• Volatility is highest in IT, indicating active market movement.</a:t>
          </a:r>
          <a:endParaRPr lang="en-US"/>
        </a:p>
      </dgm:t>
    </dgm:pt>
    <dgm:pt modelId="{2D5F304A-7961-4098-BAF5-3CB29D6BE655}" type="parTrans" cxnId="{DDF9082A-38CE-44EF-BB82-8C1BFED42A19}">
      <dgm:prSet/>
      <dgm:spPr/>
      <dgm:t>
        <a:bodyPr/>
        <a:lstStyle/>
        <a:p>
          <a:endParaRPr lang="en-US"/>
        </a:p>
      </dgm:t>
    </dgm:pt>
    <dgm:pt modelId="{FD5A3728-9F1A-4359-9524-BB20E375F53F}" type="sibTrans" cxnId="{DDF9082A-38CE-44EF-BB82-8C1BFED42A19}">
      <dgm:prSet/>
      <dgm:spPr/>
      <dgm:t>
        <a:bodyPr/>
        <a:lstStyle/>
        <a:p>
          <a:endParaRPr lang="en-US"/>
        </a:p>
      </dgm:t>
    </dgm:pt>
    <dgm:pt modelId="{7B57925D-48BF-46EA-968D-E573E803476A}" type="pres">
      <dgm:prSet presAssocID="{B54F8A70-4F32-403D-8EE1-0A4477531321}" presName="root" presStyleCnt="0">
        <dgm:presLayoutVars>
          <dgm:dir/>
          <dgm:resizeHandles val="exact"/>
        </dgm:presLayoutVars>
      </dgm:prSet>
      <dgm:spPr/>
    </dgm:pt>
    <dgm:pt modelId="{3557FD17-0815-4396-A48D-982381C7AF7B}" type="pres">
      <dgm:prSet presAssocID="{45CA950A-8E18-4CC3-9437-A3A95BBEB152}" presName="compNode" presStyleCnt="0"/>
      <dgm:spPr/>
    </dgm:pt>
    <dgm:pt modelId="{8F1615DA-C6F9-4758-B4A7-FB7A31994ED8}" type="pres">
      <dgm:prSet presAssocID="{45CA950A-8E18-4CC3-9437-A3A95BBEB15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5BDDBECF-4D72-41B2-9D7E-DEDE768B865B}" type="pres">
      <dgm:prSet presAssocID="{45CA950A-8E18-4CC3-9437-A3A95BBEB152}" presName="spaceRect" presStyleCnt="0"/>
      <dgm:spPr/>
    </dgm:pt>
    <dgm:pt modelId="{2920A753-610A-4049-A7D7-4BD9A22455CC}" type="pres">
      <dgm:prSet presAssocID="{45CA950A-8E18-4CC3-9437-A3A95BBEB152}" presName="textRect" presStyleLbl="revTx" presStyleIdx="0" presStyleCnt="4">
        <dgm:presLayoutVars>
          <dgm:chMax val="1"/>
          <dgm:chPref val="1"/>
        </dgm:presLayoutVars>
      </dgm:prSet>
      <dgm:spPr/>
    </dgm:pt>
    <dgm:pt modelId="{B1242CB6-47B6-4793-8884-0340A0DA6F0D}" type="pres">
      <dgm:prSet presAssocID="{C78AD175-F700-473C-8497-DEE31C6A93C6}" presName="sibTrans" presStyleCnt="0"/>
      <dgm:spPr/>
    </dgm:pt>
    <dgm:pt modelId="{6C719B5A-C4AB-4B4C-8004-B6928F76F7DA}" type="pres">
      <dgm:prSet presAssocID="{E73AF0F9-4A5A-4D62-87CA-C6DC927101AF}" presName="compNode" presStyleCnt="0"/>
      <dgm:spPr/>
    </dgm:pt>
    <dgm:pt modelId="{24C96E62-3DBE-42B6-BD72-C695BC3CD3C7}" type="pres">
      <dgm:prSet presAssocID="{E73AF0F9-4A5A-4D62-87CA-C6DC927101A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39728934-B2EB-4302-BFDA-83B5D15DCBD7}" type="pres">
      <dgm:prSet presAssocID="{E73AF0F9-4A5A-4D62-87CA-C6DC927101AF}" presName="spaceRect" presStyleCnt="0"/>
      <dgm:spPr/>
    </dgm:pt>
    <dgm:pt modelId="{2FA60020-C8F6-4874-8BCD-EE67FB2705E1}" type="pres">
      <dgm:prSet presAssocID="{E73AF0F9-4A5A-4D62-87CA-C6DC927101AF}" presName="textRect" presStyleLbl="revTx" presStyleIdx="1" presStyleCnt="4">
        <dgm:presLayoutVars>
          <dgm:chMax val="1"/>
          <dgm:chPref val="1"/>
        </dgm:presLayoutVars>
      </dgm:prSet>
      <dgm:spPr/>
    </dgm:pt>
    <dgm:pt modelId="{915E174C-0E57-4576-B63F-46F9ADA001DB}" type="pres">
      <dgm:prSet presAssocID="{FA777F1D-BF29-4B8F-826B-C09D6E9C3761}" presName="sibTrans" presStyleCnt="0"/>
      <dgm:spPr/>
    </dgm:pt>
    <dgm:pt modelId="{ADC6139D-606D-4A8E-8086-481C88324D46}" type="pres">
      <dgm:prSet presAssocID="{59F657DF-E654-4B13-ACCA-803BA38CFE65}" presName="compNode" presStyleCnt="0"/>
      <dgm:spPr/>
    </dgm:pt>
    <dgm:pt modelId="{7B3F0830-22ED-4186-85EF-0D4770F566A4}" type="pres">
      <dgm:prSet presAssocID="{59F657DF-E654-4B13-ACCA-803BA38CFE6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37190B41-3DF9-41E2-8D9C-91E915CB8B0B}" type="pres">
      <dgm:prSet presAssocID="{59F657DF-E654-4B13-ACCA-803BA38CFE65}" presName="spaceRect" presStyleCnt="0"/>
      <dgm:spPr/>
    </dgm:pt>
    <dgm:pt modelId="{2559F370-B110-44D0-A2C5-93A846A5BCF1}" type="pres">
      <dgm:prSet presAssocID="{59F657DF-E654-4B13-ACCA-803BA38CFE65}" presName="textRect" presStyleLbl="revTx" presStyleIdx="2" presStyleCnt="4">
        <dgm:presLayoutVars>
          <dgm:chMax val="1"/>
          <dgm:chPref val="1"/>
        </dgm:presLayoutVars>
      </dgm:prSet>
      <dgm:spPr/>
    </dgm:pt>
    <dgm:pt modelId="{3E69D911-FB8E-4ECF-B3D6-42B33B295BC4}" type="pres">
      <dgm:prSet presAssocID="{D2E1F310-7A6A-49D8-9EB7-C03B788D313E}" presName="sibTrans" presStyleCnt="0"/>
      <dgm:spPr/>
    </dgm:pt>
    <dgm:pt modelId="{72C01110-8289-4BD6-A7BE-6A75616BD496}" type="pres">
      <dgm:prSet presAssocID="{53117D29-2FB6-4CED-9DC8-77F7B2B2A4C4}" presName="compNode" presStyleCnt="0"/>
      <dgm:spPr/>
    </dgm:pt>
    <dgm:pt modelId="{080C53E8-D3B7-4DF8-84DB-653D68A04CDC}" type="pres">
      <dgm:prSet presAssocID="{53117D29-2FB6-4CED-9DC8-77F7B2B2A4C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14257A71-659D-4FBB-9EA3-662291D7EF83}" type="pres">
      <dgm:prSet presAssocID="{53117D29-2FB6-4CED-9DC8-77F7B2B2A4C4}" presName="spaceRect" presStyleCnt="0"/>
      <dgm:spPr/>
    </dgm:pt>
    <dgm:pt modelId="{B441233B-0701-40A5-BCA9-717A471E7F02}" type="pres">
      <dgm:prSet presAssocID="{53117D29-2FB6-4CED-9DC8-77F7B2B2A4C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5F9E609-1397-4133-AD41-14E0A134C09A}" type="presOf" srcId="{53117D29-2FB6-4CED-9DC8-77F7B2B2A4C4}" destId="{B441233B-0701-40A5-BCA9-717A471E7F02}" srcOrd="0" destOrd="0" presId="urn:microsoft.com/office/officeart/2018/2/layout/IconLabelList"/>
    <dgm:cxn modelId="{9F54571A-893E-4429-9AC6-EB973FE90A2A}" srcId="{B54F8A70-4F32-403D-8EE1-0A4477531321}" destId="{45CA950A-8E18-4CC3-9437-A3A95BBEB152}" srcOrd="0" destOrd="0" parTransId="{ABD75134-B9E5-4113-937C-9FE80C01A79B}" sibTransId="{C78AD175-F700-473C-8497-DEE31C6A93C6}"/>
    <dgm:cxn modelId="{DDF9082A-38CE-44EF-BB82-8C1BFED42A19}" srcId="{B54F8A70-4F32-403D-8EE1-0A4477531321}" destId="{53117D29-2FB6-4CED-9DC8-77F7B2B2A4C4}" srcOrd="3" destOrd="0" parTransId="{2D5F304A-7961-4098-BAF5-3CB29D6BE655}" sibTransId="{FD5A3728-9F1A-4359-9524-BB20E375F53F}"/>
    <dgm:cxn modelId="{7FF26337-C212-4F6E-8F2B-4D3339802AB9}" type="presOf" srcId="{E73AF0F9-4A5A-4D62-87CA-C6DC927101AF}" destId="{2FA60020-C8F6-4874-8BCD-EE67FB2705E1}" srcOrd="0" destOrd="0" presId="urn:microsoft.com/office/officeart/2018/2/layout/IconLabelList"/>
    <dgm:cxn modelId="{53409F73-1D74-42BC-8070-38F0FC5D361B}" type="presOf" srcId="{B54F8A70-4F32-403D-8EE1-0A4477531321}" destId="{7B57925D-48BF-46EA-968D-E573E803476A}" srcOrd="0" destOrd="0" presId="urn:microsoft.com/office/officeart/2018/2/layout/IconLabelList"/>
    <dgm:cxn modelId="{D45FBCD6-D991-4936-B3E7-CA12EF19DB6A}" type="presOf" srcId="{59F657DF-E654-4B13-ACCA-803BA38CFE65}" destId="{2559F370-B110-44D0-A2C5-93A846A5BCF1}" srcOrd="0" destOrd="0" presId="urn:microsoft.com/office/officeart/2018/2/layout/IconLabelList"/>
    <dgm:cxn modelId="{B1EDC5D9-370C-4811-B97E-51593DF60DA7}" srcId="{B54F8A70-4F32-403D-8EE1-0A4477531321}" destId="{59F657DF-E654-4B13-ACCA-803BA38CFE65}" srcOrd="2" destOrd="0" parTransId="{F2DD6298-7C46-4D56-B5A3-1BF62A1655AF}" sibTransId="{D2E1F310-7A6A-49D8-9EB7-C03B788D313E}"/>
    <dgm:cxn modelId="{A3476FE0-DE09-401D-8B53-3DC82795D8B5}" srcId="{B54F8A70-4F32-403D-8EE1-0A4477531321}" destId="{E73AF0F9-4A5A-4D62-87CA-C6DC927101AF}" srcOrd="1" destOrd="0" parTransId="{B7C99CCC-0965-40D0-B4DA-868FA3B2F9DB}" sibTransId="{FA777F1D-BF29-4B8F-826B-C09D6E9C3761}"/>
    <dgm:cxn modelId="{E1162DEE-F966-494C-970E-E7C69D6CB98D}" type="presOf" srcId="{45CA950A-8E18-4CC3-9437-A3A95BBEB152}" destId="{2920A753-610A-4049-A7D7-4BD9A22455CC}" srcOrd="0" destOrd="0" presId="urn:microsoft.com/office/officeart/2018/2/layout/IconLabelList"/>
    <dgm:cxn modelId="{A4CE00DD-073E-4880-9778-F83BC30D9877}" type="presParOf" srcId="{7B57925D-48BF-46EA-968D-E573E803476A}" destId="{3557FD17-0815-4396-A48D-982381C7AF7B}" srcOrd="0" destOrd="0" presId="urn:microsoft.com/office/officeart/2018/2/layout/IconLabelList"/>
    <dgm:cxn modelId="{3ABF03A2-43EC-45B2-954F-BB7C5341EAB1}" type="presParOf" srcId="{3557FD17-0815-4396-A48D-982381C7AF7B}" destId="{8F1615DA-C6F9-4758-B4A7-FB7A31994ED8}" srcOrd="0" destOrd="0" presId="urn:microsoft.com/office/officeart/2018/2/layout/IconLabelList"/>
    <dgm:cxn modelId="{C47A920A-5879-42DE-8B71-62238DBA557E}" type="presParOf" srcId="{3557FD17-0815-4396-A48D-982381C7AF7B}" destId="{5BDDBECF-4D72-41B2-9D7E-DEDE768B865B}" srcOrd="1" destOrd="0" presId="urn:microsoft.com/office/officeart/2018/2/layout/IconLabelList"/>
    <dgm:cxn modelId="{0A26BECA-87E8-4D6C-9D52-0C1F549AED98}" type="presParOf" srcId="{3557FD17-0815-4396-A48D-982381C7AF7B}" destId="{2920A753-610A-4049-A7D7-4BD9A22455CC}" srcOrd="2" destOrd="0" presId="urn:microsoft.com/office/officeart/2018/2/layout/IconLabelList"/>
    <dgm:cxn modelId="{9B4E7997-F9C2-4791-8BC5-55BA1D847989}" type="presParOf" srcId="{7B57925D-48BF-46EA-968D-E573E803476A}" destId="{B1242CB6-47B6-4793-8884-0340A0DA6F0D}" srcOrd="1" destOrd="0" presId="urn:microsoft.com/office/officeart/2018/2/layout/IconLabelList"/>
    <dgm:cxn modelId="{B6ADCD02-43DC-492C-A9A0-5E8C73338F76}" type="presParOf" srcId="{7B57925D-48BF-46EA-968D-E573E803476A}" destId="{6C719B5A-C4AB-4B4C-8004-B6928F76F7DA}" srcOrd="2" destOrd="0" presId="urn:microsoft.com/office/officeart/2018/2/layout/IconLabelList"/>
    <dgm:cxn modelId="{0EA289CB-61DC-4011-9CAA-A26CBA22C250}" type="presParOf" srcId="{6C719B5A-C4AB-4B4C-8004-B6928F76F7DA}" destId="{24C96E62-3DBE-42B6-BD72-C695BC3CD3C7}" srcOrd="0" destOrd="0" presId="urn:microsoft.com/office/officeart/2018/2/layout/IconLabelList"/>
    <dgm:cxn modelId="{997C0770-70A2-46A8-90FB-1A9B67D74F56}" type="presParOf" srcId="{6C719B5A-C4AB-4B4C-8004-B6928F76F7DA}" destId="{39728934-B2EB-4302-BFDA-83B5D15DCBD7}" srcOrd="1" destOrd="0" presId="urn:microsoft.com/office/officeart/2018/2/layout/IconLabelList"/>
    <dgm:cxn modelId="{DF8FD22C-FAB3-4472-B9CD-D3955497896F}" type="presParOf" srcId="{6C719B5A-C4AB-4B4C-8004-B6928F76F7DA}" destId="{2FA60020-C8F6-4874-8BCD-EE67FB2705E1}" srcOrd="2" destOrd="0" presId="urn:microsoft.com/office/officeart/2018/2/layout/IconLabelList"/>
    <dgm:cxn modelId="{EF761E2C-14E2-4B8B-AFC5-CC480DF635B1}" type="presParOf" srcId="{7B57925D-48BF-46EA-968D-E573E803476A}" destId="{915E174C-0E57-4576-B63F-46F9ADA001DB}" srcOrd="3" destOrd="0" presId="urn:microsoft.com/office/officeart/2018/2/layout/IconLabelList"/>
    <dgm:cxn modelId="{32B369DC-6A9D-4FFE-9066-E319A5EA8CF4}" type="presParOf" srcId="{7B57925D-48BF-46EA-968D-E573E803476A}" destId="{ADC6139D-606D-4A8E-8086-481C88324D46}" srcOrd="4" destOrd="0" presId="urn:microsoft.com/office/officeart/2018/2/layout/IconLabelList"/>
    <dgm:cxn modelId="{E65743A3-5DB4-4706-B792-DB10BE6426FF}" type="presParOf" srcId="{ADC6139D-606D-4A8E-8086-481C88324D46}" destId="{7B3F0830-22ED-4186-85EF-0D4770F566A4}" srcOrd="0" destOrd="0" presId="urn:microsoft.com/office/officeart/2018/2/layout/IconLabelList"/>
    <dgm:cxn modelId="{0EB9063A-44D9-4752-AF85-3E2DD856DE1D}" type="presParOf" srcId="{ADC6139D-606D-4A8E-8086-481C88324D46}" destId="{37190B41-3DF9-41E2-8D9C-91E915CB8B0B}" srcOrd="1" destOrd="0" presId="urn:microsoft.com/office/officeart/2018/2/layout/IconLabelList"/>
    <dgm:cxn modelId="{CA9110F9-03C0-4A15-9B97-5BA98E40F3AB}" type="presParOf" srcId="{ADC6139D-606D-4A8E-8086-481C88324D46}" destId="{2559F370-B110-44D0-A2C5-93A846A5BCF1}" srcOrd="2" destOrd="0" presId="urn:microsoft.com/office/officeart/2018/2/layout/IconLabelList"/>
    <dgm:cxn modelId="{642D53FE-D7E5-467F-8E45-8131DDF9ABBB}" type="presParOf" srcId="{7B57925D-48BF-46EA-968D-E573E803476A}" destId="{3E69D911-FB8E-4ECF-B3D6-42B33B295BC4}" srcOrd="5" destOrd="0" presId="urn:microsoft.com/office/officeart/2018/2/layout/IconLabelList"/>
    <dgm:cxn modelId="{BE451D69-9D2B-4020-BB7B-699D7E77BCD2}" type="presParOf" srcId="{7B57925D-48BF-46EA-968D-E573E803476A}" destId="{72C01110-8289-4BD6-A7BE-6A75616BD496}" srcOrd="6" destOrd="0" presId="urn:microsoft.com/office/officeart/2018/2/layout/IconLabelList"/>
    <dgm:cxn modelId="{5851BDC6-8BC9-4B50-BA59-2E4BB3A5D2E5}" type="presParOf" srcId="{72C01110-8289-4BD6-A7BE-6A75616BD496}" destId="{080C53E8-D3B7-4DF8-84DB-653D68A04CDC}" srcOrd="0" destOrd="0" presId="urn:microsoft.com/office/officeart/2018/2/layout/IconLabelList"/>
    <dgm:cxn modelId="{94811D0E-8C06-4EA1-90A5-7C774695C862}" type="presParOf" srcId="{72C01110-8289-4BD6-A7BE-6A75616BD496}" destId="{14257A71-659D-4FBB-9EA3-662291D7EF83}" srcOrd="1" destOrd="0" presId="urn:microsoft.com/office/officeart/2018/2/layout/IconLabelList"/>
    <dgm:cxn modelId="{0EF27381-C322-4F25-87BC-CA8EC180424D}" type="presParOf" srcId="{72C01110-8289-4BD6-A7BE-6A75616BD496}" destId="{B441233B-0701-40A5-BCA9-717A471E7F0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B47D65-73C4-449B-9245-7E2CEE1C2DA5}">
      <dsp:nvSpPr>
        <dsp:cNvPr id="0" name=""/>
        <dsp:cNvSpPr/>
      </dsp:nvSpPr>
      <dsp:spPr>
        <a:xfrm>
          <a:off x="0" y="0"/>
          <a:ext cx="5266397" cy="92432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/>
            <a:t>Compares volatility across sectors:</a:t>
          </a:r>
          <a:endParaRPr lang="en-US" sz="2400" kern="1200"/>
        </a:p>
      </dsp:txBody>
      <dsp:txXfrm>
        <a:off x="27073" y="27073"/>
        <a:ext cx="4190872" cy="870179"/>
      </dsp:txXfrm>
    </dsp:sp>
    <dsp:sp modelId="{28A5BC57-038B-46AE-BB80-A2DCAA1BD158}">
      <dsp:nvSpPr>
        <dsp:cNvPr id="0" name=""/>
        <dsp:cNvSpPr/>
      </dsp:nvSpPr>
      <dsp:spPr>
        <a:xfrm>
          <a:off x="441060" y="1092384"/>
          <a:ext cx="5266397" cy="924325"/>
        </a:xfrm>
        <a:prstGeom prst="roundRect">
          <a:avLst>
            <a:gd name="adj" fmla="val 10000"/>
          </a:avLst>
        </a:prstGeom>
        <a:solidFill>
          <a:schemeClr val="accent2">
            <a:hueOff val="-2474889"/>
            <a:satOff val="807"/>
            <a:lumOff val="-719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/>
            <a:t>• IT shows highest volatility (2.34%)</a:t>
          </a:r>
          <a:endParaRPr lang="en-US" sz="2400" kern="1200"/>
        </a:p>
      </dsp:txBody>
      <dsp:txXfrm>
        <a:off x="468133" y="1119457"/>
        <a:ext cx="4170379" cy="870179"/>
      </dsp:txXfrm>
    </dsp:sp>
    <dsp:sp modelId="{FAFD6C70-94F7-4442-A14C-6E0DFB1CFACE}">
      <dsp:nvSpPr>
        <dsp:cNvPr id="0" name=""/>
        <dsp:cNvSpPr/>
      </dsp:nvSpPr>
      <dsp:spPr>
        <a:xfrm>
          <a:off x="875538" y="2184769"/>
          <a:ext cx="5266397" cy="924325"/>
        </a:xfrm>
        <a:prstGeom prst="roundRect">
          <a:avLst>
            <a:gd name="adj" fmla="val 10000"/>
          </a:avLst>
        </a:prstGeom>
        <a:solidFill>
          <a:schemeClr val="accent2">
            <a:hueOff val="-4949778"/>
            <a:satOff val="1615"/>
            <a:lumOff val="-1438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/>
            <a:t>• Financials moderate (1.04%)</a:t>
          </a:r>
          <a:endParaRPr lang="en-US" sz="2400" kern="1200"/>
        </a:p>
      </dsp:txBody>
      <dsp:txXfrm>
        <a:off x="902611" y="2211842"/>
        <a:ext cx="4176962" cy="870179"/>
      </dsp:txXfrm>
    </dsp:sp>
    <dsp:sp modelId="{B177B8D5-18FC-4994-ADF9-93202D81E83B}">
      <dsp:nvSpPr>
        <dsp:cNvPr id="0" name=""/>
        <dsp:cNvSpPr/>
      </dsp:nvSpPr>
      <dsp:spPr>
        <a:xfrm>
          <a:off x="1316599" y="3277153"/>
          <a:ext cx="5266397" cy="924325"/>
        </a:xfrm>
        <a:prstGeom prst="roundRect">
          <a:avLst>
            <a:gd name="adj" fmla="val 10000"/>
          </a:avLst>
        </a:prstGeom>
        <a:solidFill>
          <a:schemeClr val="accent2">
            <a:hueOff val="-7424668"/>
            <a:satOff val="2422"/>
            <a:lumOff val="-2157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/>
            <a:t>• Energy and Healthcare around (0.95–1.0%).</a:t>
          </a:r>
          <a:endParaRPr lang="en-US" sz="2400" kern="1200"/>
        </a:p>
      </dsp:txBody>
      <dsp:txXfrm>
        <a:off x="1343672" y="3304226"/>
        <a:ext cx="4170379" cy="870179"/>
      </dsp:txXfrm>
    </dsp:sp>
    <dsp:sp modelId="{EDC45B31-009A-42C9-A055-F61CF78F403E}">
      <dsp:nvSpPr>
        <dsp:cNvPr id="0" name=""/>
        <dsp:cNvSpPr/>
      </dsp:nvSpPr>
      <dsp:spPr>
        <a:xfrm>
          <a:off x="4665586" y="707949"/>
          <a:ext cx="600811" cy="600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4800768" y="707949"/>
        <a:ext cx="330447" cy="452110"/>
      </dsp:txXfrm>
    </dsp:sp>
    <dsp:sp modelId="{5EE3AAA9-D94D-435A-A86D-52F68285725D}">
      <dsp:nvSpPr>
        <dsp:cNvPr id="0" name=""/>
        <dsp:cNvSpPr/>
      </dsp:nvSpPr>
      <dsp:spPr>
        <a:xfrm>
          <a:off x="5106646" y="1800333"/>
          <a:ext cx="600811" cy="600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704308"/>
            <a:satOff val="790"/>
            <a:lumOff val="-260"/>
            <a:alphaOff val="0"/>
          </a:schemeClr>
        </a:solidFill>
        <a:ln w="13970" cap="flat" cmpd="sng" algn="ctr">
          <a:solidFill>
            <a:schemeClr val="accent2">
              <a:tint val="40000"/>
              <a:alpha val="90000"/>
              <a:hueOff val="-3704308"/>
              <a:satOff val="790"/>
              <a:lumOff val="-26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241828" y="1800333"/>
        <a:ext cx="330447" cy="452110"/>
      </dsp:txXfrm>
    </dsp:sp>
    <dsp:sp modelId="{E2718254-95DB-4FB3-AFEB-60B85DF0D253}">
      <dsp:nvSpPr>
        <dsp:cNvPr id="0" name=""/>
        <dsp:cNvSpPr/>
      </dsp:nvSpPr>
      <dsp:spPr>
        <a:xfrm>
          <a:off x="5541124" y="2892718"/>
          <a:ext cx="600811" cy="600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7408615"/>
            <a:satOff val="1581"/>
            <a:lumOff val="-519"/>
            <a:alphaOff val="0"/>
          </a:schemeClr>
        </a:solidFill>
        <a:ln w="13970" cap="flat" cmpd="sng" algn="ctr">
          <a:solidFill>
            <a:schemeClr val="accent2">
              <a:tint val="40000"/>
              <a:alpha val="90000"/>
              <a:hueOff val="-7408615"/>
              <a:satOff val="1581"/>
              <a:lumOff val="-5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676306" y="2892718"/>
        <a:ext cx="330447" cy="4521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B4D42F-8C2B-4F9D-8916-4C8F6B915A17}">
      <dsp:nvSpPr>
        <dsp:cNvPr id="0" name=""/>
        <dsp:cNvSpPr/>
      </dsp:nvSpPr>
      <dsp:spPr>
        <a:xfrm>
          <a:off x="0" y="707092"/>
          <a:ext cx="644652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CD162C-B9BA-4AE9-9196-6031D8F4CC5F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8B798F-F7CB-4B81-AE00-3BBB08DA4102}">
      <dsp:nvSpPr>
        <dsp:cNvPr id="0" name=""/>
        <dsp:cNvSpPr/>
      </dsp:nvSpPr>
      <dsp:spPr>
        <a:xfrm>
          <a:off x="1507738" y="707092"/>
          <a:ext cx="493878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baseline="0"/>
            <a:t>Tracks monthly returns for each company.</a:t>
          </a:r>
          <a:endParaRPr lang="en-US" sz="2100" kern="1200"/>
        </a:p>
      </dsp:txBody>
      <dsp:txXfrm>
        <a:off x="1507738" y="707092"/>
        <a:ext cx="4938781" cy="1305401"/>
      </dsp:txXfrm>
    </dsp:sp>
    <dsp:sp modelId="{45B330C1-BACF-41D8-9007-F4E9EAAADAC7}">
      <dsp:nvSpPr>
        <dsp:cNvPr id="0" name=""/>
        <dsp:cNvSpPr/>
      </dsp:nvSpPr>
      <dsp:spPr>
        <a:xfrm>
          <a:off x="0" y="2338843"/>
          <a:ext cx="644652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8F188C-39E8-4E87-87EA-11CF646EF2F1}">
      <dsp:nvSpPr>
        <dsp:cNvPr id="0" name=""/>
        <dsp:cNvSpPr/>
      </dsp:nvSpPr>
      <dsp:spPr>
        <a:xfrm>
          <a:off x="394883" y="2632558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1DA19D-F82F-4201-9FDC-AFEC4423FD54}">
      <dsp:nvSpPr>
        <dsp:cNvPr id="0" name=""/>
        <dsp:cNvSpPr/>
      </dsp:nvSpPr>
      <dsp:spPr>
        <a:xfrm>
          <a:off x="1507738" y="2338843"/>
          <a:ext cx="493878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baseline="0"/>
            <a:t>Pfizer and TCS show strong gains in March–April, while Apple, Infosys, and Microsoft decline by June.</a:t>
          </a:r>
          <a:endParaRPr lang="en-US" sz="2100" kern="1200"/>
        </a:p>
      </dsp:txBody>
      <dsp:txXfrm>
        <a:off x="1507738" y="2338843"/>
        <a:ext cx="4938781" cy="13054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1615DA-C6F9-4758-B4A7-FB7A31994ED8}">
      <dsp:nvSpPr>
        <dsp:cNvPr id="0" name=""/>
        <dsp:cNvSpPr/>
      </dsp:nvSpPr>
      <dsp:spPr>
        <a:xfrm>
          <a:off x="1091420" y="316453"/>
          <a:ext cx="707167" cy="7071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20A753-610A-4049-A7D7-4BD9A22455CC}">
      <dsp:nvSpPr>
        <dsp:cNvPr id="0" name=""/>
        <dsp:cNvSpPr/>
      </dsp:nvSpPr>
      <dsp:spPr>
        <a:xfrm>
          <a:off x="659262" y="1275710"/>
          <a:ext cx="1571484" cy="628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baseline="0"/>
            <a:t>• IT and Financials dominate market capitalization.</a:t>
          </a:r>
          <a:endParaRPr lang="en-US" sz="1100" kern="1200"/>
        </a:p>
      </dsp:txBody>
      <dsp:txXfrm>
        <a:off x="659262" y="1275710"/>
        <a:ext cx="1571484" cy="628593"/>
      </dsp:txXfrm>
    </dsp:sp>
    <dsp:sp modelId="{24C96E62-3DBE-42B6-BD72-C695BC3CD3C7}">
      <dsp:nvSpPr>
        <dsp:cNvPr id="0" name=""/>
        <dsp:cNvSpPr/>
      </dsp:nvSpPr>
      <dsp:spPr>
        <a:xfrm>
          <a:off x="2937914" y="316453"/>
          <a:ext cx="707167" cy="7071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A60020-C8F6-4874-8BCD-EE67FB2705E1}">
      <dsp:nvSpPr>
        <dsp:cNvPr id="0" name=""/>
        <dsp:cNvSpPr/>
      </dsp:nvSpPr>
      <dsp:spPr>
        <a:xfrm>
          <a:off x="2505756" y="1275710"/>
          <a:ext cx="1571484" cy="628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baseline="0"/>
            <a:t>• March–April show strong performance, June shows decline.</a:t>
          </a:r>
          <a:endParaRPr lang="en-US" sz="1100" kern="1200"/>
        </a:p>
      </dsp:txBody>
      <dsp:txXfrm>
        <a:off x="2505756" y="1275710"/>
        <a:ext cx="1571484" cy="628593"/>
      </dsp:txXfrm>
    </dsp:sp>
    <dsp:sp modelId="{7B3F0830-22ED-4186-85EF-0D4770F566A4}">
      <dsp:nvSpPr>
        <dsp:cNvPr id="0" name=""/>
        <dsp:cNvSpPr/>
      </dsp:nvSpPr>
      <dsp:spPr>
        <a:xfrm>
          <a:off x="4784408" y="316453"/>
          <a:ext cx="707167" cy="7071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9F370-B110-44D0-A2C5-93A846A5BCF1}">
      <dsp:nvSpPr>
        <dsp:cNvPr id="0" name=""/>
        <dsp:cNvSpPr/>
      </dsp:nvSpPr>
      <dsp:spPr>
        <a:xfrm>
          <a:off x="4352250" y="1275710"/>
          <a:ext cx="1571484" cy="628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baseline="0"/>
            <a:t>• Dividend income remains high despite overall loss.</a:t>
          </a:r>
          <a:endParaRPr lang="en-US" sz="1100" kern="1200"/>
        </a:p>
      </dsp:txBody>
      <dsp:txXfrm>
        <a:off x="4352250" y="1275710"/>
        <a:ext cx="1571484" cy="628593"/>
      </dsp:txXfrm>
    </dsp:sp>
    <dsp:sp modelId="{080C53E8-D3B7-4DF8-84DB-653D68A04CDC}">
      <dsp:nvSpPr>
        <dsp:cNvPr id="0" name=""/>
        <dsp:cNvSpPr/>
      </dsp:nvSpPr>
      <dsp:spPr>
        <a:xfrm>
          <a:off x="2937914" y="2297175"/>
          <a:ext cx="707167" cy="7071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1233B-0701-40A5-BCA9-717A471E7F02}">
      <dsp:nvSpPr>
        <dsp:cNvPr id="0" name=""/>
        <dsp:cNvSpPr/>
      </dsp:nvSpPr>
      <dsp:spPr>
        <a:xfrm>
          <a:off x="2505756" y="3256431"/>
          <a:ext cx="1571484" cy="628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baseline="0"/>
            <a:t>• Volatility is highest in IT, indicating active market movement.</a:t>
          </a:r>
          <a:endParaRPr lang="en-US" sz="1100" kern="1200"/>
        </a:p>
      </dsp:txBody>
      <dsp:txXfrm>
        <a:off x="2505756" y="3256431"/>
        <a:ext cx="1571484" cy="6285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233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055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24945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90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404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74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2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080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351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534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117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26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FB0C39A-F8CA-4A79-AFFC-E9780FB19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business graph and charts">
            <a:extLst>
              <a:ext uri="{FF2B5EF4-FFF2-40B4-BE49-F238E27FC236}">
                <a16:creationId xmlns:a16="http://schemas.microsoft.com/office/drawing/2014/main" id="{C47FA96F-A211-71D0-D3A2-44190DD400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4174" r="12160" b="1"/>
          <a:stretch>
            <a:fillRect/>
          </a:stretch>
        </p:blipFill>
        <p:spPr>
          <a:xfrm>
            <a:off x="20" y="-2"/>
            <a:ext cx="914398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>
            <a:normAutofit/>
          </a:bodyPr>
          <a:lstStyle/>
          <a:p>
            <a:r>
              <a:rPr lang="en-US" b="1">
                <a:latin typeface="Calibri"/>
              </a:rPr>
              <a:t>Fundamental Trend Analysis of Stock Market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  <a:latin typeface="Calibri"/>
              </a:rPr>
              <a:t>Comprehensive KPI and Chart Explanation</a:t>
            </a:r>
          </a:p>
          <a:p>
            <a:r>
              <a:rPr lang="en-US">
                <a:solidFill>
                  <a:schemeClr val="tx1"/>
                </a:solidFill>
                <a:latin typeface="Calibri"/>
              </a:rPr>
              <a:t>Developed using Tableau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68EA504-F6E5-457A-ACFA-2F5FEB89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469630" cy="685800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7DB2D139-6EC9-61D0-A05F-8685B259690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0000"/>
          </a:blip>
          <a:srcRect l="26380" r="4151"/>
          <a:stretch>
            <a:fillRect/>
          </a:stretch>
        </p:blipFill>
        <p:spPr>
          <a:xfrm>
            <a:off x="20" y="1"/>
            <a:ext cx="846961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chemeClr val="bg1"/>
                </a:solidFill>
                <a:latin typeface="Calibri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005739"/>
            <a:ext cx="6446520" cy="41743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Calibri"/>
              </a:rPr>
              <a:t>This dashboard analyzes stock market performance across sectors and companies. It integrates KPIs and charts to highlight portfolio trends, volatility, and profitability.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8EA504-F6E5-457A-ACFA-2F5FEB89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469630" cy="685800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8492C170-F077-C225-A2F5-8CF3172D761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0000"/>
          </a:blip>
          <a:srcRect l="5773" r="17039"/>
          <a:stretch>
            <a:fillRect/>
          </a:stretch>
        </p:blipFill>
        <p:spPr>
          <a:xfrm>
            <a:off x="20" y="1"/>
            <a:ext cx="846961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chemeClr val="bg1"/>
                </a:solidFill>
                <a:latin typeface="Calibri"/>
              </a:rPr>
              <a:t>Aim of the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005739"/>
            <a:ext cx="6446520" cy="41743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Calibri"/>
              </a:rPr>
              <a:t>The dashboard aims to:</a:t>
            </a:r>
          </a:p>
          <a:p>
            <a:r>
              <a:rPr lang="en-US">
                <a:solidFill>
                  <a:schemeClr val="bg1"/>
                </a:solidFill>
                <a:latin typeface="Calibri"/>
              </a:rPr>
              <a:t>• Evaluate portfolio performance and sector contributions.</a:t>
            </a:r>
          </a:p>
          <a:p>
            <a:r>
              <a:rPr lang="en-US">
                <a:solidFill>
                  <a:schemeClr val="bg1"/>
                </a:solidFill>
                <a:latin typeface="Calibri"/>
              </a:rPr>
              <a:t>• Measure volatility, returns, and dividend yield.</a:t>
            </a:r>
          </a:p>
          <a:p>
            <a:r>
              <a:rPr lang="en-US">
                <a:solidFill>
                  <a:schemeClr val="bg1"/>
                </a:solidFill>
                <a:latin typeface="Calibri"/>
              </a:rPr>
              <a:t>• Identify profit or loss trends for better investment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B0431E-0B04-44A1-9C51-531E28D18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r>
              <a:rPr lang="en-IN" b="1">
                <a:latin typeface="Calibri"/>
              </a:rPr>
              <a:t>KPI: Market Capitalization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1828800"/>
            <a:ext cx="6446520" cy="4351337"/>
          </a:xfrm>
        </p:spPr>
        <p:txBody>
          <a:bodyPr>
            <a:normAutofit/>
          </a:bodyPr>
          <a:lstStyle/>
          <a:p>
            <a:r>
              <a:rPr lang="en-US">
                <a:latin typeface="Calibri"/>
              </a:rPr>
              <a:t>Represents the total market value of all holdings (₹375.63M). It shows overall portfolio size and dominance of specific sectors like IT and Financials.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424749-EEE0-49C9-9ABF-97B171A3E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8EA504-F6E5-457A-ACFA-2F5FEB89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469630" cy="685800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9FA07949-D7DD-92F7-C7A0-B00C46551DA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0000"/>
          </a:blip>
          <a:srcRect l="2221" r="15341" b="-2"/>
          <a:stretch>
            <a:fillRect/>
          </a:stretch>
        </p:blipFill>
        <p:spPr>
          <a:xfrm>
            <a:off x="20" y="1"/>
            <a:ext cx="846961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chemeClr val="bg1"/>
                </a:solidFill>
                <a:latin typeface="Calibri"/>
              </a:rPr>
              <a:t>KPI: Average Daily Volatility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005739"/>
            <a:ext cx="6446520" cy="41743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Calibri"/>
              </a:rPr>
              <a:t>Measures the average daily price fluctuations (2.03%). It indicates market risk and helps assess portfolio stability.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89683EB-D202-4B4D-B1BD-8BA6965FB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469630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des on papers">
            <a:extLst>
              <a:ext uri="{FF2B5EF4-FFF2-40B4-BE49-F238E27FC236}">
                <a16:creationId xmlns:a16="http://schemas.microsoft.com/office/drawing/2014/main" id="{0CA6A219-0AFF-FD22-4FCA-1985FEF272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9755" r="7807" b="-1"/>
          <a:stretch>
            <a:fillRect/>
          </a:stretch>
        </p:blipFill>
        <p:spPr>
          <a:xfrm>
            <a:off x="20" y="10"/>
            <a:ext cx="846961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chemeClr val="bg1"/>
                </a:solidFill>
                <a:latin typeface="Calibri"/>
              </a:rPr>
              <a:t>KPI: Portfolio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005739"/>
            <a:ext cx="6446520" cy="41743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Calibri"/>
              </a:rPr>
              <a:t>Represents the total current value of all investments (₹375.63M), calculated as Quantity Held × Latest Share Price.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8EA504-F6E5-457A-ACFA-2F5FEB89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469630" cy="685800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des on papers">
            <a:extLst>
              <a:ext uri="{FF2B5EF4-FFF2-40B4-BE49-F238E27FC236}">
                <a16:creationId xmlns:a16="http://schemas.microsoft.com/office/drawing/2014/main" id="{F216A0FC-AF65-51D9-73F0-51DFFBBD568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0000"/>
          </a:blip>
          <a:srcRect l="9756" r="7807" b="-2"/>
          <a:stretch>
            <a:fillRect/>
          </a:stretch>
        </p:blipFill>
        <p:spPr>
          <a:xfrm>
            <a:off x="20" y="1"/>
            <a:ext cx="846961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chemeClr val="bg1"/>
                </a:solidFill>
                <a:latin typeface="Calibri"/>
              </a:rPr>
              <a:t>KPI: Portfolio Return %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005739"/>
            <a:ext cx="6446520" cy="41743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Calibri"/>
              </a:rPr>
              <a:t>Shows overall portfolio performance (-6.46%). A negative percentage reflects capital loss during the analysis period.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89683EB-D202-4B4D-B1BD-8BA6965FB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469630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des on papers">
            <a:extLst>
              <a:ext uri="{FF2B5EF4-FFF2-40B4-BE49-F238E27FC236}">
                <a16:creationId xmlns:a16="http://schemas.microsoft.com/office/drawing/2014/main" id="{6CEAD46F-BECF-98A7-C88B-17899489CA2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9755" r="7807" b="-1"/>
          <a:stretch>
            <a:fillRect/>
          </a:stretch>
        </p:blipFill>
        <p:spPr>
          <a:xfrm>
            <a:off x="20" y="10"/>
            <a:ext cx="846961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chemeClr val="bg1"/>
                </a:solidFill>
                <a:latin typeface="Calibri"/>
              </a:rPr>
              <a:t>KPI: Dividend Yield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005739"/>
            <a:ext cx="6446520" cy="41743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Calibri"/>
              </a:rPr>
              <a:t>Indicates annual dividend income relative to stock price (16.96%). It shows how much income investors earn from dividends.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89683EB-D202-4B4D-B1BD-8BA6965FB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469630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Orange and blue numbers and graphs">
            <a:extLst>
              <a:ext uri="{FF2B5EF4-FFF2-40B4-BE49-F238E27FC236}">
                <a16:creationId xmlns:a16="http://schemas.microsoft.com/office/drawing/2014/main" id="{F0AC37B2-2D62-637D-2A88-2E535731AD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7451" r="16906" b="1"/>
          <a:stretch>
            <a:fillRect/>
          </a:stretch>
        </p:blipFill>
        <p:spPr>
          <a:xfrm>
            <a:off x="20" y="10"/>
            <a:ext cx="846961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chemeClr val="bg1"/>
                </a:solidFill>
                <a:latin typeface="Calibri"/>
              </a:rPr>
              <a:t>KPI: Trader Performance (P&amp;L)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005739"/>
            <a:ext cx="6446520" cy="41743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Calibri"/>
              </a:rPr>
              <a:t>Displays overall trading profit or loss (₹-14.25M). A negative figure means losses outweigh realized gains.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89683EB-D202-4B4D-B1BD-8BA6965FB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469630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82640042-2525-CD9A-1CDE-E0F97E7631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5773" r="17039"/>
          <a:stretch>
            <a:fillRect/>
          </a:stretch>
        </p:blipFill>
        <p:spPr>
          <a:xfrm>
            <a:off x="20" y="10"/>
            <a:ext cx="846961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  <a:latin typeface="Calibri"/>
              </a:rPr>
              <a:t>Chart: Market Capitalization per Month by Sector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005739"/>
            <a:ext cx="6446520" cy="41743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Calibri"/>
              </a:rPr>
              <a:t>Shows how total capitalization is distributed across sectors.</a:t>
            </a:r>
          </a:p>
          <a:p>
            <a:r>
              <a:rPr lang="en-US">
                <a:solidFill>
                  <a:schemeClr val="bg1"/>
                </a:solidFill>
                <a:latin typeface="Calibri"/>
              </a:rPr>
              <a:t>• IT sector leads with ₹323K</a:t>
            </a:r>
          </a:p>
          <a:p>
            <a:r>
              <a:rPr lang="en-US">
                <a:solidFill>
                  <a:schemeClr val="bg1"/>
                </a:solidFill>
                <a:latin typeface="Calibri"/>
              </a:rPr>
              <a:t>• Financials follow with ₹278K</a:t>
            </a:r>
          </a:p>
          <a:p>
            <a:r>
              <a:rPr lang="en-US">
                <a:solidFill>
                  <a:schemeClr val="bg1"/>
                </a:solidFill>
                <a:latin typeface="Calibri"/>
              </a:rPr>
              <a:t>• Healthcare, Energy, and Consumer Discretionary contribute smaller shares.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89683EB-D202-4B4D-B1BD-8BA6965FB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469630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0D6C49BE-C723-D3EA-9FD3-F7023FC891D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5773" r="17039"/>
          <a:stretch>
            <a:fillRect/>
          </a:stretch>
        </p:blipFill>
        <p:spPr>
          <a:xfrm>
            <a:off x="20" y="10"/>
            <a:ext cx="846961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  <a:latin typeface="Calibri"/>
              </a:rPr>
              <a:t>Chart: Market Capitalization per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005739"/>
            <a:ext cx="6446520" cy="41743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Calibri"/>
              </a:rPr>
              <a:t>Treemap representation of company-wise market capitalization.</a:t>
            </a:r>
          </a:p>
          <a:p>
            <a:r>
              <a:rPr lang="en-US">
                <a:solidFill>
                  <a:schemeClr val="bg1"/>
                </a:solidFill>
                <a:latin typeface="Calibri"/>
              </a:rPr>
              <a:t>HDFC Bank and Infosys lead the group, followed by Pfizer and TCS.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r>
              <a:rPr lang="en-IN" b="1">
                <a:latin typeface="Calibri"/>
              </a:rPr>
              <a:t>Chart: Volatility by Sector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2E1EDE-0EFB-79A8-2B82-CB5363CDAE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5307699"/>
              </p:ext>
            </p:extLst>
          </p:nvPr>
        </p:nvGraphicFramePr>
        <p:xfrm>
          <a:off x="946547" y="2013054"/>
          <a:ext cx="6582997" cy="42014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3366"/>
                </a:solidFill>
                <a:latin typeface="Calibri"/>
              </a:rPr>
              <a:t>Chart: Average Return per Month by Company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09D8E8-78BB-B6E9-C05E-25F68BCC53A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46404" y="1828801"/>
          <a:ext cx="644652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89683EB-D202-4B4D-B1BD-8BA6965FB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469630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des on papers">
            <a:extLst>
              <a:ext uri="{FF2B5EF4-FFF2-40B4-BE49-F238E27FC236}">
                <a16:creationId xmlns:a16="http://schemas.microsoft.com/office/drawing/2014/main" id="{5BC5186D-4967-C108-CDA0-18728585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9755" r="7807" b="-1"/>
          <a:stretch>
            <a:fillRect/>
          </a:stretch>
        </p:blipFill>
        <p:spPr>
          <a:xfrm>
            <a:off x="20" y="10"/>
            <a:ext cx="846961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  <a:latin typeface="Calibri"/>
              </a:rPr>
              <a:t>Chart: Average Return per Month by Sector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005739"/>
            <a:ext cx="6446520" cy="41743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Calibri"/>
              </a:rPr>
              <a:t>Shows sector-level monthly returns.</a:t>
            </a:r>
          </a:p>
          <a:p>
            <a:r>
              <a:rPr lang="en-US">
                <a:solidFill>
                  <a:schemeClr val="bg1"/>
                </a:solidFill>
                <a:latin typeface="Calibri"/>
              </a:rPr>
              <a:t>Consumer Discretionary peaked in March (~0.5%) followed by Energy and Financials. Most sectors declined after April.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r>
              <a:rPr lang="en-IN" b="1">
                <a:latin typeface="Calibri"/>
              </a:rPr>
              <a:t>Key Observations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FFF84A-539D-3E80-FF40-0547077CDF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2260003"/>
              </p:ext>
            </p:extLst>
          </p:nvPr>
        </p:nvGraphicFramePr>
        <p:xfrm>
          <a:off x="946547" y="2013054"/>
          <a:ext cx="6582997" cy="42014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8EA504-F6E5-457A-ACFA-2F5FEB89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469630" cy="685800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04A6B49A-418A-5694-CBDB-96471B7E138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0000"/>
          </a:blip>
          <a:srcRect l="8502" r="14311"/>
          <a:stretch>
            <a:fillRect/>
          </a:stretch>
        </p:blipFill>
        <p:spPr>
          <a:xfrm>
            <a:off x="20" y="1"/>
            <a:ext cx="846961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chemeClr val="bg1"/>
                </a:solidFill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005739"/>
            <a:ext cx="6446520" cy="41743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Calibri"/>
              </a:rPr>
              <a:t>The Tableau dashboard effectively captures market dynamics:</a:t>
            </a:r>
          </a:p>
          <a:p>
            <a:r>
              <a:rPr lang="en-US">
                <a:solidFill>
                  <a:schemeClr val="bg1"/>
                </a:solidFill>
                <a:latin typeface="Calibri"/>
              </a:rPr>
              <a:t>• IT and Financials dominate capitalization and volatility.</a:t>
            </a:r>
          </a:p>
          <a:p>
            <a:r>
              <a:rPr lang="en-US">
                <a:solidFill>
                  <a:schemeClr val="bg1"/>
                </a:solidFill>
                <a:latin typeface="Calibri"/>
              </a:rPr>
              <a:t>• Portfolio faced negative returns despite strong dividends.</a:t>
            </a:r>
          </a:p>
          <a:p>
            <a:r>
              <a:rPr lang="en-US">
                <a:solidFill>
                  <a:schemeClr val="bg1"/>
                </a:solidFill>
                <a:latin typeface="Calibri"/>
              </a:rPr>
              <a:t>• Useful for monitoring performance, risk, and opportunities.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15</TotalTime>
  <Words>489</Words>
  <Application>Microsoft Office PowerPoint</Application>
  <PresentationFormat>On-screen Show (4:3)</PresentationFormat>
  <Paragraphs>51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Century Schoolbook</vt:lpstr>
      <vt:lpstr>Wingdings 2</vt:lpstr>
      <vt:lpstr>View</vt:lpstr>
      <vt:lpstr>Fundamental Trend Analysis of Stock Market Dashboard</vt:lpstr>
      <vt:lpstr>Introduction</vt:lpstr>
      <vt:lpstr>Aim of the Dashboard</vt:lpstr>
      <vt:lpstr>KPI: Market Capitalization</vt:lpstr>
      <vt:lpstr>KPI: Average Daily Volatility</vt:lpstr>
      <vt:lpstr>KPI: Portfolio Value</vt:lpstr>
      <vt:lpstr>KPI: Portfolio Return %</vt:lpstr>
      <vt:lpstr>KPI: Dividend Yield</vt:lpstr>
      <vt:lpstr>KPI: Trader Performance (P&amp;L)</vt:lpstr>
      <vt:lpstr>Chart: Market Capitalization per Month by Sector</vt:lpstr>
      <vt:lpstr>Chart: Market Capitalization per Company</vt:lpstr>
      <vt:lpstr>Chart: Volatility by Sector</vt:lpstr>
      <vt:lpstr>Chart: Average Return per Month by Company</vt:lpstr>
      <vt:lpstr>Chart: Average Return per Month by Sector</vt:lpstr>
      <vt:lpstr>Key Observations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Anand Daware</dc:creator>
  <cp:keywords/>
  <dc:description>generated using python-pptx</dc:description>
  <cp:lastModifiedBy>Office</cp:lastModifiedBy>
  <cp:revision>3</cp:revision>
  <dcterms:created xsi:type="dcterms:W3CDTF">2013-01-27T09:14:16Z</dcterms:created>
  <dcterms:modified xsi:type="dcterms:W3CDTF">2025-11-01T11:49:04Z</dcterms:modified>
  <cp:category/>
</cp:coreProperties>
</file>